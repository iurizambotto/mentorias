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deck responde uma pergunta: entregamos o que foi planejado? A resposta curta e sim para verba e impressao, nao para clique.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Campanha sem linha de planejado fica fora da conta. Entrega fora da janela do flight nao pertence aquele plano.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mediana de pacing de investimento por par e 99,9999%, ou seja, o acerto na verba nao e efeito de media: e caso a caso.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Investimento 100,75%, impressoes 121,70%, cliques 47,32%. Olhar so o investimento daria esta campanha como entregue.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CPM abaixo do planejado significa compra eficiente de alcance. CPC acima significa que o alcance comprado era menos clicavel. Investigar mudanca de criativo, publico ou formato.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Meta e Youtube ficaram na faixa. O furo do Tiktok e concentrado e da para rastrear.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Somando so os pares abaixo de 90%, ficaram R$ 55.132,33 de verba planejada sem virar entrega.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Motivos de ficar fora: campanha sem plano, veiculo nao planejado para a campanha, e data fora da janela. A pergunta que fica e de negocio: essas campanhas tinham plano em outro lugar?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Estes pontos precisam aparecer na reuniao. O de janela sobreposta e o que mais muda numero.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147 linhas de realizado caem em mais de um flight, uma delas em 4. A regra usada: cada linha conta uma vez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Itens 1 e 2 sao decisao de midia. Itens 3 e 4 sao correcao de processo na origem do dado.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conferidor conferir_numeros.py recusa qualquer numero do deck que nao tenha lastro no livro.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488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0B0B0B"/>
                </a:solidFill>
                <a:latin typeface="Calibri"/>
              </a:rPr>
              <a:t>Entregamos a verba e as impressões, mas menos da metade dos cliques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86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52514E"/>
                </a:solidFill>
                <a:latin typeface="Calibri"/>
              </a:rPr>
              <a:t>Pacing de campanhas · plano de 28/05/2024 a 31/07/2024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6177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Reunião de resultados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84048"/>
            <a:ext cx="11064240" cy="1051560"/>
          </a:xfrm>
        </p:spPr>
        <p:txBody>
          <a:bodyPr wrap="square"/>
          <a:lstStyle/>
          <a:p>
            <a:pPr algn="l"/>
            <a:r>
              <a:rPr sz="3000" b="1">
                <a:solidFill>
                  <a:srgbClr val="0B0B0B"/>
                </a:solidFill>
                <a:latin typeface="Calibri"/>
              </a:rPr>
              <a:t>A pergunta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424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2A78D6"/>
                </a:solidFill>
                <a:latin typeface="Calibri"/>
              </a:rPr>
              <a:t>“A gente entregou o que tinha planejado?”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3192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52514E"/>
                </a:solidFill>
                <a:latin typeface="Calibri"/>
              </a:rPr>
              <a:t>Pacing é o realizado dividido pelo planejado.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52514E"/>
                </a:solidFill>
                <a:latin typeface="Calibri"/>
              </a:rPr>
              <a:t>Só conta a entrega da mesma campanha, no mesmo veículo, dentro da janela contratada.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84048"/>
            <a:ext cx="11064240" cy="1051560"/>
          </a:xfrm>
        </p:spPr>
        <p:txBody>
          <a:bodyPr wrap="square"/>
          <a:lstStyle/>
          <a:p>
            <a:pPr algn="l"/>
            <a:r>
              <a:rPr sz="3000" b="1">
                <a:solidFill>
                  <a:srgbClr val="0B0B0B"/>
                </a:solidFill>
                <a:latin typeface="Calibri"/>
              </a:rPr>
              <a:t>A verba foi entregue. O clique, não.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Pacing de investimento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7889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5000" b="1">
                <a:solidFill>
                  <a:srgbClr val="0B0B0B"/>
                </a:solidFill>
                <a:latin typeface="Calibri"/>
              </a:rPr>
              <a:t>100,75%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R$ 1.041.385,17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de R$ 1.033.625,08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2377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Pacing de impressões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7889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5000" b="1">
                <a:solidFill>
                  <a:srgbClr val="0B0B0B"/>
                </a:solidFill>
                <a:latin typeface="Calibri"/>
              </a:rPr>
              <a:t>121,70%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411480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29.749.424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acima do plano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23774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Pacing de cliques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7889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5000" b="1">
                <a:solidFill>
                  <a:srgbClr val="D03B3B"/>
                </a:solidFill>
                <a:latin typeface="Calibri"/>
              </a:rPr>
              <a:t>47,32%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411480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faltaram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330.185 cliques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778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Base: 45 linhas de plano e 884 linhas de entrega diária dentro das janelas.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84048"/>
            <a:ext cx="11064240" cy="1051560"/>
          </a:xfrm>
        </p:spPr>
        <p:txBody>
          <a:bodyPr wrap="square"/>
          <a:lstStyle/>
          <a:p>
            <a:pPr algn="l"/>
            <a:r>
              <a:rPr sz="3000" b="1">
                <a:solidFill>
                  <a:srgbClr val="0B0B0B"/>
                </a:solidFill>
                <a:latin typeface="Calibri"/>
              </a:rPr>
              <a:t>O plano foi cumprido em verba e em impressão, e furou em clique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48132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Pacing por métrica, sobre 25 pares de campanha e veículo</a:t>
            </a:r>
          </a:p>
        </p:txBody>
      </p:sp>
      <p:pic>
        <p:nvPicPr>
          <p:cNvPr id="4" name="Picture 3" descr="metr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2240280"/>
            <a:ext cx="9326880" cy="41571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84048"/>
            <a:ext cx="11064240" cy="1051560"/>
          </a:xfrm>
        </p:spPr>
        <p:txBody>
          <a:bodyPr wrap="square"/>
          <a:lstStyle/>
          <a:p>
            <a:pPr algn="l"/>
            <a:r>
              <a:rPr sz="3000" b="1">
                <a:solidFill>
                  <a:srgbClr val="0B0B0B"/>
                </a:solidFill>
                <a:latin typeface="Calibri"/>
              </a:rPr>
              <a:t>Compramos mídia mais barata que não converteu em clique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48132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CTR caiu de 0,4571% previstos para 0,1777% realizados</a:t>
            </a:r>
          </a:p>
        </p:txBody>
      </p:sp>
      <p:pic>
        <p:nvPicPr>
          <p:cNvPr id="4" name="Picture 3" descr="fun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2240280"/>
            <a:ext cx="8778240" cy="34129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8978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O clique saiu 2,13 vezes mais caro que o orçado.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84048"/>
            <a:ext cx="11064240" cy="1051560"/>
          </a:xfrm>
        </p:spPr>
        <p:txBody>
          <a:bodyPr wrap="square"/>
          <a:lstStyle/>
          <a:p>
            <a:pPr algn="l"/>
            <a:r>
              <a:rPr sz="3000" b="1">
                <a:solidFill>
                  <a:srgbClr val="0B0B0B"/>
                </a:solidFill>
                <a:latin typeface="Calibri"/>
              </a:rPr>
              <a:t>Tiktok entregou menos da metade da verba planejada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48132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Investimento planejado e realizado por veículo; o número acima das barras é o pacing</a:t>
            </a:r>
          </a:p>
        </p:txBody>
      </p:sp>
      <p:pic>
        <p:nvPicPr>
          <p:cNvPr id="4" name="Picture 3" descr="veicu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13" y="2240280"/>
            <a:ext cx="8168468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9436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D03B3B"/>
                </a:solidFill>
                <a:latin typeface="Calibri"/>
              </a:rPr>
              <a:t>A campanha Inauguracao no Tiktok tinha R$ 24.797,50 e não teve nenhuma entrega na janela.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84048"/>
            <a:ext cx="11064240" cy="1051560"/>
          </a:xfrm>
        </p:spPr>
        <p:txBody>
          <a:bodyPr wrap="square"/>
          <a:lstStyle/>
          <a:p>
            <a:pPr algn="l"/>
            <a:r>
              <a:rPr sz="3000" b="1">
                <a:solidFill>
                  <a:srgbClr val="0B0B0B"/>
                </a:solidFill>
                <a:latin typeface="Calibri"/>
              </a:rPr>
              <a:t>A média de 100% esconde campanhas de 0% a 134%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48132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19 pares na faixa de 90% a 110%, 3 abaixo e 3 acima</a:t>
            </a:r>
          </a:p>
        </p:txBody>
      </p:sp>
      <p:pic>
        <p:nvPicPr>
          <p:cNvPr id="4" name="Picture 3" descr="campan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7" y="2148840"/>
            <a:ext cx="10424160" cy="42250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84048"/>
            <a:ext cx="11064240" cy="1051560"/>
          </a:xfrm>
        </p:spPr>
        <p:txBody>
          <a:bodyPr wrap="square"/>
          <a:lstStyle/>
          <a:p>
            <a:pPr algn="l"/>
            <a:r>
              <a:rPr sz="3000" b="1">
                <a:solidFill>
                  <a:srgbClr val="0B0B0B"/>
                </a:solidFill>
                <a:latin typeface="Calibri"/>
              </a:rPr>
              <a:t>Este pacing descreve 6,1% do que foi gasto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48132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166 das 185 campanhas do arquivo não têm linha de plano</a:t>
            </a:r>
          </a:p>
        </p:txBody>
      </p:sp>
      <p:pic>
        <p:nvPicPr>
          <p:cNvPr id="4" name="Picture 3" descr="cober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294" y="2377440"/>
            <a:ext cx="5187106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07492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R$ 16.027.790,90 de entrega não pertencem a nenhum flight deste plano.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0B0B0B"/>
                </a:solidFill>
                <a:latin typeface="Calibri"/>
              </a:rPr>
              <a:t>O número de pacing é confiável para o que cobre. Ele não é a leitura da operação inteira.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84048"/>
            <a:ext cx="11064240" cy="1051560"/>
          </a:xfrm>
        </p:spPr>
        <p:txBody>
          <a:bodyPr wrap="square"/>
          <a:lstStyle/>
          <a:p>
            <a:pPr algn="l"/>
            <a:r>
              <a:rPr sz="3000" b="1">
                <a:solidFill>
                  <a:srgbClr val="0B0B0B"/>
                </a:solidFill>
                <a:latin typeface="Calibri"/>
              </a:rPr>
              <a:t>O que achamos na base, e o que este número não responde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57400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2A78D6"/>
                </a:solidFill>
                <a:latin typeface="Calibri"/>
              </a:rPr>
              <a:t>Achados na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5257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52514E"/>
                </a:solidFill>
                <a:latin typeface="Calibri"/>
              </a:rPr>
              <a:t>• 2 flights com plano em branco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2514E"/>
                </a:solidFill>
                <a:latin typeface="Calibri"/>
              </a:rPr>
              <a:t>• Um deles entregou R$ 5.949,31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2514E"/>
                </a:solidFill>
                <a:latin typeface="Calibri"/>
              </a:rPr>
              <a:t>• 3 pares com janela sobreposta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2514E"/>
                </a:solidFill>
                <a:latin typeface="Calibri"/>
              </a:rPr>
              <a:t>• Extensão .xls, conteúdo 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057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2A78D6"/>
                </a:solidFill>
                <a:latin typeface="Calibri"/>
              </a:rPr>
              <a:t>Não responde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606040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52514E"/>
                </a:solidFill>
                <a:latin typeface="Calibri"/>
              </a:rPr>
              <a:t>• Se o plano estava bem feito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2514E"/>
                </a:solidFill>
                <a:latin typeface="Calibri"/>
              </a:rPr>
              <a:t>• Por que 93,9% não tem plano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2514E"/>
                </a:solidFill>
                <a:latin typeface="Calibri"/>
              </a:rPr>
              <a:t>• Pacing de flight sobreposto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52514E"/>
                </a:solidFill>
                <a:latin typeface="Calibri"/>
              </a:rPr>
              <a:t>• Venda e receita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84048"/>
            <a:ext cx="11064240" cy="1051560"/>
          </a:xfrm>
        </p:spPr>
        <p:txBody>
          <a:bodyPr wrap="square"/>
          <a:lstStyle/>
          <a:p>
            <a:pPr algn="l"/>
            <a:r>
              <a:rPr sz="3000" b="1">
                <a:solidFill>
                  <a:srgbClr val="0B0B0B"/>
                </a:solidFill>
                <a:latin typeface="Calibri"/>
              </a:rPr>
              <a:t>Três decisões de método mudam o resultado em até 3,6 vezes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48132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Calibri"/>
              </a:rPr>
              <a:t>Cada alternativa foi calculada, não estimada</a:t>
            </a:r>
          </a:p>
        </p:txBody>
      </p:sp>
      <p:pic>
        <p:nvPicPr>
          <p:cNvPr id="4" name="Picture 3" descr="de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191" y="2240280"/>
            <a:ext cx="7591312" cy="3337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607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B0B0B"/>
                </a:solidFill>
                <a:latin typeface="Calibri"/>
              </a:rPr>
              <a:t>Sem deduplicar a entrega que cai em vários flights, o realizado ganharia R$ 522.702,62 que não existem.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84048"/>
            <a:ext cx="11064240" cy="1051560"/>
          </a:xfrm>
        </p:spPr>
        <p:txBody>
          <a:bodyPr wrap="square"/>
          <a:lstStyle/>
          <a:p>
            <a:pPr algn="l"/>
            <a:r>
              <a:rPr sz="3000" b="1">
                <a:solidFill>
                  <a:srgbClr val="0B0B0B"/>
                </a:solidFill>
                <a:latin typeface="Calibri"/>
              </a:rPr>
              <a:t>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900" b="0">
                <a:solidFill>
                  <a:srgbClr val="0B0B0B"/>
                </a:solidFill>
                <a:latin typeface="Calibri"/>
              </a:rPr>
              <a:t>1.  Decidir a verba do Tiktok: 47,7% de pacing, uma campanha zerada.</a:t>
            </a:r>
          </a:p>
          <a:p>
            <a:pPr>
              <a:spcAft>
                <a:spcPts val="1800"/>
              </a:spcAft>
            </a:pPr>
            <a:r>
              <a:rPr sz="1900" b="0">
                <a:solidFill>
                  <a:srgbClr val="0B0B0B"/>
                </a:solidFill>
                <a:latin typeface="Calibri"/>
              </a:rPr>
              <a:t>2.  Revisar a meta de cliques. O CTR orçado não se sustentou.</a:t>
            </a:r>
          </a:p>
          <a:p>
            <a:pPr>
              <a:spcAft>
                <a:spcPts val="1800"/>
              </a:spcAft>
            </a:pPr>
            <a:r>
              <a:rPr sz="1900" b="0">
                <a:solidFill>
                  <a:srgbClr val="0B0B0B"/>
                </a:solidFill>
                <a:latin typeface="Calibri"/>
              </a:rPr>
              <a:t>3.  Trazer o plano das 166 campanhas que rodaram sem ele.</a:t>
            </a:r>
          </a:p>
          <a:p>
            <a:pPr>
              <a:spcAft>
                <a:spcPts val="1800"/>
              </a:spcAft>
            </a:pPr>
            <a:r>
              <a:rPr sz="1900" b="0">
                <a:solidFill>
                  <a:srgbClr val="0B0B0B"/>
                </a:solidFill>
                <a:latin typeface="Calibri"/>
              </a:rPr>
              <a:t>4.  Corrigir os 2 flights vazios e a janela sobreposta, na origem.</a:t>
            </a:r>
          </a:p>
          <a:p>
            <a:pPr>
              <a:spcAft>
                <a:spcPts val="1800"/>
              </a:spcAft>
            </a:pPr>
            <a:r>
              <a:rPr sz="1900" b="0">
                <a:solidFill>
                  <a:srgbClr val="0B0B0B"/>
                </a:solidFill>
                <a:latin typeface="Calibri"/>
              </a:rPr>
              <a:t>5.  Acompanhar pacing de cliques, não só o de investimento.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84048"/>
            <a:ext cx="11064240" cy="1051560"/>
          </a:xfrm>
        </p:spPr>
        <p:txBody>
          <a:bodyPr wrap="square"/>
          <a:lstStyle/>
          <a:p>
            <a:pPr algn="l"/>
            <a:r>
              <a:rPr sz="3000" b="1">
                <a:solidFill>
                  <a:srgbClr val="0B0B0B"/>
                </a:solidFill>
                <a:latin typeface="Calibri"/>
              </a:rPr>
              <a:t>Apêndice: como reproduzir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965960"/>
            <a:ext cx="10698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50" b="0">
                <a:solidFill>
                  <a:srgbClr val="52514E"/>
                </a:solidFill>
                <a:latin typeface="Calibri"/>
              </a:rPr>
              <a:t>Cada número tem lastro em analise/numeros.json.</a:t>
            </a:r>
          </a:p>
          <a:p>
            <a:pPr>
              <a:spcAft>
                <a:spcPts val="500"/>
              </a:spcAft>
            </a:pPr>
            <a:r>
              <a:rPr sz="1550" b="0">
                <a:solidFill>
                  <a:srgbClr val="52514E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550" b="0">
                <a:solidFill>
                  <a:srgbClr val="52514E"/>
                </a:solidFill>
                <a:latin typeface="Calibri"/>
              </a:rPr>
              <a:t>01_escopo.py  ·  dentro ou fora do plano</a:t>
            </a:r>
          </a:p>
          <a:p>
            <a:pPr>
              <a:spcAft>
                <a:spcPts val="500"/>
              </a:spcAft>
            </a:pPr>
            <a:r>
              <a:rPr sz="1550" b="0">
                <a:solidFill>
                  <a:srgbClr val="52514E"/>
                </a:solidFill>
                <a:latin typeface="Calibri"/>
              </a:rPr>
              <a:t>02_sobreposicao.py  ·  flights sobrepostos, dupla contagem</a:t>
            </a:r>
          </a:p>
          <a:p>
            <a:pPr>
              <a:spcAft>
                <a:spcPts val="500"/>
              </a:spcAft>
            </a:pPr>
            <a:r>
              <a:rPr sz="1550" b="0">
                <a:solidFill>
                  <a:srgbClr val="52514E"/>
                </a:solidFill>
                <a:latin typeface="Calibri"/>
              </a:rPr>
              <a:t>03_denominadores.py  ·  denominador nulo ou zerado</a:t>
            </a:r>
          </a:p>
          <a:p>
            <a:pPr>
              <a:spcAft>
                <a:spcPts val="500"/>
              </a:spcAft>
            </a:pPr>
            <a:r>
              <a:rPr sz="1550" b="0">
                <a:solidFill>
                  <a:srgbClr val="52514E"/>
                </a:solidFill>
                <a:latin typeface="Calibri"/>
              </a:rPr>
              <a:t>04_pacing.py  ·  pacing por par, campanha e veículo</a:t>
            </a:r>
          </a:p>
          <a:p>
            <a:pPr>
              <a:spcAft>
                <a:spcPts val="500"/>
              </a:spcAft>
            </a:pPr>
            <a:r>
              <a:rPr sz="1550" b="0">
                <a:solidFill>
                  <a:srgbClr val="52514E"/>
                </a:solidFill>
                <a:latin typeface="Calibri"/>
              </a:rPr>
              <a:t>05_alternativas.py  ·  alternativas e reconciliação</a:t>
            </a:r>
          </a:p>
          <a:p>
            <a:pPr>
              <a:spcAft>
                <a:spcPts val="500"/>
              </a:spcAft>
            </a:pPr>
            <a:r>
              <a:rPr sz="1550" b="0">
                <a:solidFill>
                  <a:srgbClr val="52514E"/>
                </a:solidFill>
                <a:latin typeface="Calibri"/>
              </a:rPr>
              <a:t>06_series.py  ·  série, CPM, CPC, CTR, gasto fora</a:t>
            </a:r>
          </a:p>
          <a:p>
            <a:pPr>
              <a:spcAft>
                <a:spcPts val="500"/>
              </a:spcAft>
            </a:pPr>
            <a:r>
              <a:rPr sz="1550" b="0">
                <a:solidFill>
                  <a:srgbClr val="52514E"/>
                </a:solidFill>
                <a:latin typeface="Calibri"/>
              </a:rPr>
              <a:t>07_destaques.py  ·  destaques por campanha</a:t>
            </a:r>
          </a:p>
          <a:p>
            <a:pPr>
              <a:spcAft>
                <a:spcPts val="500"/>
              </a:spcAft>
            </a:pPr>
            <a:r>
              <a:rPr sz="1550" b="0">
                <a:solidFill>
                  <a:srgbClr val="52514E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550" b="0">
                <a:solidFill>
                  <a:srgbClr val="52514E"/>
                </a:solidFill>
                <a:latin typeface="Calibri"/>
              </a:rPr>
              <a:t>Método: analise/decisoes.md  ·  Perfil: analise/perfil.md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