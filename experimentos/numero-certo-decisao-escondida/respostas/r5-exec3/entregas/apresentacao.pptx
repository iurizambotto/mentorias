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920240"/>
            <a:ext cx="9509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4600" b="1">
                <a:solidFill>
                  <a:srgbClr val="0B0B0B"/>
                </a:solidFill>
                <a:latin typeface="Calibri"/>
              </a:rPr>
              <a:t>O dinheiro foi entregue.</a:t>
            </a:r>
          </a:p>
          <a:p>
            <a:pPr algn="l">
              <a:lnSpc>
                <a:spcPct val="106000"/>
              </a:lnSpc>
            </a:pPr>
            <a:r>
              <a:rPr sz="4600" b="1">
                <a:solidFill>
                  <a:srgbClr val="0B0B0B"/>
                </a:solidFill>
                <a:latin typeface="Calibri"/>
              </a:rPr>
              <a:t>O clique não.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4114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>
                <a:solidFill>
                  <a:srgbClr val="52514E"/>
                </a:solidFill>
                <a:latin typeface="Calibri"/>
              </a:rPr>
              <a:t>Pacing das campanhas de mídia  ·  plano de 28/05/2024 a 31/07/2024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6817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898781"/>
                </a:solidFill>
                <a:latin typeface="Calibri"/>
              </a:rPr>
              <a:t>45 flights planejados  ·  16.764 linhas de entrega diária  ·  884 entram na conta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20624"/>
            <a:ext cx="10874959" cy="914400"/>
          </a:xfrm>
        </p:spPr>
        <p:txBody>
          <a:bodyPr wrap="square"/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0B0B0B"/>
                </a:solidFill>
                <a:latin typeface="Calibri"/>
              </a:rPr>
              <a:t>A pergunta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371600" cy="26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031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>
                <a:solidFill>
                  <a:srgbClr val="0B0B0B"/>
                </a:solidFill>
                <a:latin typeface="Calibri"/>
              </a:rPr>
              <a:t>“A gente entregou o que tinha planejado?”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2900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52514E"/>
                </a:solidFill>
                <a:latin typeface="Calibri"/>
              </a:rPr>
              <a:t>Pacing é o realizado dividido pelo planejado.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52514E"/>
                </a:solidFill>
                <a:latin typeface="Calibri"/>
              </a:rPr>
              <a:t>Só entra na conta a entrega que caiu dentro da janela do flight, no mesmo veículo.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52514E"/>
                </a:solidFill>
                <a:latin typeface="Calibri"/>
              </a:rPr>
              <a:t>Campanha sem linha de plano fica de fora.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20624"/>
            <a:ext cx="10874959" cy="914400"/>
          </a:xfrm>
        </p:spPr>
        <p:txBody>
          <a:bodyPr wrap="square"/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0B0B0B"/>
                </a:solidFill>
                <a:latin typeface="Calibri"/>
              </a:rPr>
              <a:t>A resposta: depende de qual das três métricas você olha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371600" cy="26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52514E"/>
                </a:solidFill>
                <a:latin typeface="Calibri"/>
              </a:rPr>
              <a:t>A verba foi cumprida. A audiência veio acima. O clique veio pela metade.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514600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898781"/>
                </a:solidFill>
                <a:latin typeface="Calibri"/>
              </a:rPr>
              <a:t>INVESTIMENTO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26080"/>
            <a:ext cx="34015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5000" b="1">
                <a:solidFill>
                  <a:srgbClr val="0B0B0B"/>
                </a:solidFill>
                <a:latin typeface="Calibri"/>
              </a:rPr>
              <a:t>100,75%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41648"/>
            <a:ext cx="3401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52514E"/>
                </a:solidFill>
                <a:latin typeface="Calibri"/>
              </a:rPr>
              <a:t>no plano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514600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898781"/>
                </a:solidFill>
                <a:latin typeface="Calibri"/>
              </a:rPr>
              <a:t>IMPRESSÕES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926080"/>
            <a:ext cx="34015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5000" b="1">
                <a:solidFill>
                  <a:srgbClr val="0B0B0B"/>
                </a:solidFill>
                <a:latin typeface="Calibri"/>
              </a:rPr>
              <a:t>121,70%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4041648"/>
            <a:ext cx="3401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52514E"/>
                </a:solidFill>
                <a:latin typeface="Calibri"/>
              </a:rPr>
              <a:t>acima do plano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2514600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898781"/>
                </a:solidFill>
                <a:latin typeface="Calibri"/>
              </a:rPr>
              <a:t>CLIQUES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926080"/>
            <a:ext cx="34015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5000" b="1">
                <a:solidFill>
                  <a:srgbClr val="2A78D6"/>
                </a:solidFill>
                <a:latin typeface="Calibri"/>
              </a:rPr>
              <a:t>47,32%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4041648"/>
            <a:ext cx="3401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52514E"/>
                </a:solidFill>
                <a:latin typeface="Calibri"/>
              </a:rPr>
              <a:t>abaixo do plano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029200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898781"/>
                </a:solidFill>
                <a:latin typeface="Calibri"/>
              </a:rPr>
              <a:t>Base: 39 blocos de plano e 884 linhas de entrega dentro das janelas.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20624"/>
            <a:ext cx="10874959" cy="914400"/>
          </a:xfrm>
        </p:spPr>
        <p:txBody>
          <a:bodyPr wrap="square"/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0B0B0B"/>
                </a:solidFill>
                <a:latin typeface="Calibri"/>
              </a:rPr>
              <a:t>Cumprir a verba não é entregar o plano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43584"/>
            <a:ext cx="108749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52514E"/>
                </a:solidFill>
                <a:latin typeface="Calibri"/>
              </a:rPr>
              <a:t>Faltaram 330.185 cliques que estavam no plano.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71600" cy="26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cing_g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512" y="1828800"/>
            <a:ext cx="8350670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669280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52514E"/>
                </a:solidFill>
                <a:latin typeface="Calibri"/>
              </a:rPr>
              <a:t>Quem olhar só a linha de orçamento vai concluir que a campanha correu bem.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20624"/>
            <a:ext cx="10874959" cy="914400"/>
          </a:xfrm>
        </p:spPr>
        <p:txBody>
          <a:bodyPr wrap="square"/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0B0B0B"/>
                </a:solidFill>
                <a:latin typeface="Calibri"/>
              </a:rPr>
              <a:t>A mídia veio 17,21% mais barata que o plano supunha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43584"/>
            <a:ext cx="108749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52514E"/>
                </a:solidFill>
                <a:latin typeface="Calibri"/>
              </a:rPr>
              <a:t>Custo por mil impressões, planejado contra realizado.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71600" cy="26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718" y="1783080"/>
            <a:ext cx="4584259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577840"/>
            <a:ext cx="108749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52514E"/>
                </a:solidFill>
                <a:latin typeface="Calibri"/>
              </a:rPr>
              <a:t>Com o mesmo dinheiro, isso gerou 29.749.424 impressões além do plano. É a parte boa do resultado, e também a explicação do próximo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20624"/>
            <a:ext cx="10874959" cy="914400"/>
          </a:xfrm>
        </p:spPr>
        <p:txBody>
          <a:bodyPr wrap="square"/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0B0B0B"/>
                </a:solidFill>
                <a:latin typeface="Calibri"/>
              </a:rPr>
              <a:t>E a taxa de clique veio 61,12% abaixo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43584"/>
            <a:ext cx="108749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52514E"/>
                </a:solidFill>
                <a:latin typeface="Calibri"/>
              </a:rPr>
              <a:t>Percentual de quem viu o anúncio e clicou, planejado contra realizado.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71600" cy="26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718" y="1783080"/>
            <a:ext cx="4584259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577840"/>
            <a:ext cx="108749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52514E"/>
                </a:solidFill>
                <a:latin typeface="Calibri"/>
              </a:rPr>
              <a:t>A mídia barata que trouxe a audiência extra é a mesma que converte menos em clique. Não são dois problemas, é um só, visto de dois lados.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20624"/>
            <a:ext cx="10874959" cy="914400"/>
          </a:xfrm>
        </p:spPr>
        <p:txBody>
          <a:bodyPr wrap="square"/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0B0B0B"/>
                </a:solidFill>
                <a:latin typeface="Calibri"/>
              </a:rPr>
              <a:t>O TikTok ficou abaixo da meta nas três métricas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43584"/>
            <a:ext cx="108749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52514E"/>
                </a:solidFill>
                <a:latin typeface="Calibri"/>
              </a:rPr>
              <a:t>Meta trouxe volume sem clique. YouTube trouxe clique sem volume.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71600" cy="26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eicu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234" y="1783080"/>
            <a:ext cx="6825227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623560"/>
            <a:ext cx="108749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2514E"/>
                </a:solidFill>
                <a:latin typeface="Calibri"/>
              </a:rPr>
              <a:t>Sobraram R$ 51.759,58 de verba planejada e não gasta no veículo. A ação Inauguração tinha R$ 24.797,50 reservados e não teve um dia de entrega.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20624"/>
            <a:ext cx="10874959" cy="914400"/>
          </a:xfrm>
        </p:spPr>
        <p:txBody>
          <a:bodyPr wrap="square"/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0B0B0B"/>
                </a:solidFill>
                <a:latin typeface="Calibri"/>
              </a:rPr>
              <a:t>De zero ao triplo da meta, dependendo da campanha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43584"/>
            <a:ext cx="108749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52514E"/>
                </a:solidFill>
                <a:latin typeface="Calibri"/>
              </a:rPr>
              <a:t>Pacing de impressões por campanha.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71600" cy="26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mpanh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818" y="1645920"/>
            <a:ext cx="9196058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053328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2514E"/>
                </a:solidFill>
                <a:latin typeface="Calibri"/>
              </a:rPr>
              <a:t>O número consolidado esconde essa dispersão. A conversa útil é campanha a campanha.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20624"/>
            <a:ext cx="10874959" cy="914400"/>
          </a:xfrm>
        </p:spPr>
        <p:txBody>
          <a:bodyPr wrap="square"/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0B0B0B"/>
                </a:solidFill>
                <a:latin typeface="Calibri"/>
              </a:rPr>
              <a:t>Este plano cobre 6,10% do que a área gastou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43584"/>
            <a:ext cx="108749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52514E"/>
                </a:solidFill>
                <a:latin typeface="Calibri"/>
              </a:rPr>
              <a:t>166 campanhas rodaram sem nenhuma linha de plano.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71600" cy="26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ber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460" y="2194560"/>
            <a:ext cx="8080775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4434840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52514E"/>
                </a:solidFill>
                <a:latin typeface="Calibri"/>
              </a:rPr>
              <a:t>Investimento no arquivo: R$ 17.075.125,38.  Coberto por este plano: R$ 1.041.385,17.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29200"/>
            <a:ext cx="108749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0B0B0B"/>
                </a:solidFill>
                <a:latin typeface="Calibri"/>
              </a:rPr>
              <a:t>Os números deste deck são verdadeiros sobre o plano. Eles não descrevem a operação inteira.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20624"/>
            <a:ext cx="10874959" cy="914400"/>
          </a:xfrm>
        </p:spPr>
        <p:txBody>
          <a:bodyPr wrap="square"/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0B0B0B"/>
                </a:solidFill>
                <a:latin typeface="Calibri"/>
              </a:rPr>
              <a:t>O que esta análise não responde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371600" cy="26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1087495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</a:pPr>
            <a:r>
              <a:rPr sz="1800" b="0">
                <a:solidFill>
                  <a:srgbClr val="52514E"/>
                </a:solidFill>
                <a:latin typeface="Calibri"/>
              </a:rPr>
              <a:t>Resultado de negócio: o arquivo tem mídia, não venda.</a:t>
            </a:r>
          </a:p>
          <a:p>
            <a:pPr algn="l">
              <a:lnSpc>
                <a:spcPct val="180000"/>
              </a:lnSpc>
            </a:pPr>
            <a:r>
              <a:rPr sz="1800" b="0">
                <a:solidFill>
                  <a:srgbClr val="52514E"/>
                </a:solidFill>
                <a:latin typeface="Calibri"/>
              </a:rPr>
              <a:t>Qual métrica era a meta de cada flight.</a:t>
            </a:r>
          </a:p>
          <a:p>
            <a:pPr algn="l">
              <a:lnSpc>
                <a:spcPct val="180000"/>
              </a:lnSpc>
            </a:pPr>
            <a:r>
              <a:rPr sz="1800" b="0">
                <a:solidFill>
                  <a:srgbClr val="52514E"/>
                </a:solidFill>
                <a:latin typeface="Calibri"/>
              </a:rPr>
              <a:t>O motivo da queda de engajamento.</a:t>
            </a:r>
          </a:p>
          <a:p>
            <a:pPr algn="l">
              <a:lnSpc>
                <a:spcPct val="180000"/>
              </a:lnSpc>
            </a:pPr>
            <a:r>
              <a:rPr sz="1800" b="0">
                <a:solidFill>
                  <a:srgbClr val="52514E"/>
                </a:solidFill>
                <a:latin typeface="Calibri"/>
              </a:rPr>
              <a:t>Pacing de flight isolado em três janelas sobrepostas.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31920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B0B0B"/>
                </a:solidFill>
                <a:latin typeface="Calibri"/>
              </a:rPr>
              <a:t>Qualidade da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480560"/>
            <a:ext cx="108749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</a:pPr>
            <a:r>
              <a:rPr sz="1700" b="0">
                <a:solidFill>
                  <a:srgbClr val="52514E"/>
                </a:solidFill>
                <a:latin typeface="Calibri"/>
              </a:rPr>
              <a:t>Extensão .xls, conteúdo CSV, e duas tabelas empilhadas.</a:t>
            </a:r>
          </a:p>
          <a:p>
            <a:pPr algn="l">
              <a:lnSpc>
                <a:spcPct val="180000"/>
              </a:lnSpc>
            </a:pPr>
            <a:r>
              <a:rPr sz="1700" b="0">
                <a:solidFill>
                  <a:srgbClr val="52514E"/>
                </a:solidFill>
                <a:latin typeface="Calibri"/>
              </a:rPr>
              <a:t>Duas reservas sem meta no plano: ficaram fora da conta.</a:t>
            </a:r>
          </a:p>
          <a:p>
            <a:pPr algn="l">
              <a:lnSpc>
                <a:spcPct val="180000"/>
              </a:lnSpc>
            </a:pPr>
            <a:r>
              <a:rPr sz="1700" b="0">
                <a:solidFill>
                  <a:srgbClr val="52514E"/>
                </a:solidFill>
                <a:latin typeface="Calibri"/>
              </a:rPr>
              <a:t>Público vem como “N/a” em 241 linhas.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20624"/>
            <a:ext cx="10874959" cy="914400"/>
          </a:xfrm>
        </p:spPr>
        <p:txBody>
          <a:bodyPr wrap="square"/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0B0B0B"/>
                </a:solidFill>
                <a:latin typeface="Calibri"/>
              </a:rPr>
              <a:t>Duas decisões de método mudam o 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43584"/>
            <a:ext cx="108749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52514E"/>
                </a:solidFill>
                <a:latin typeface="Calibri"/>
              </a:rPr>
              <a:t>Cada alternativa foi calculada, não estimada.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71600" cy="26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83080"/>
          <a:ext cx="1087495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7482"/>
                <a:gridCol w="3153738"/>
                <a:gridCol w="3153738"/>
              </a:tblGrid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Decisão</a:t>
                      </a:r>
                    </a:p>
                  </a:txBody>
                  <a:tcPr marL="118872" marR="118872" marT="82296" marB="8229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Como foi feito</a:t>
                      </a:r>
                    </a:p>
                  </a:txBody>
                  <a:tcPr marL="118872" marR="118872" marT="82296" marB="8229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0B0B0B"/>
                          </a:solidFill>
                          <a:latin typeface="Calibri"/>
                        </a:rPr>
                        <a:t>Se fosse do outro jeito</a:t>
                      </a:r>
                    </a:p>
                  </a:txBody>
                  <a:tcPr marL="118872" marR="118872" marT="82296" marB="82296"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52514E"/>
                          </a:solidFill>
                          <a:latin typeface="Calibri"/>
                        </a:rPr>
                        <a:t>O mesmo dia de entrega não foi contado duas vezes</a:t>
                      </a:r>
                    </a:p>
                  </a:txBody>
                  <a:tcPr marL="118872" marR="118872" marT="82296" marB="8229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52514E"/>
                          </a:solidFill>
                          <a:latin typeface="Calibri"/>
                        </a:rPr>
                        <a:t>Impressões: 121,70%</a:t>
                      </a:r>
                    </a:p>
                  </a:txBody>
                  <a:tcPr marL="118872" marR="118872" marT="82296" marB="8229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52514E"/>
                          </a:solidFill>
                          <a:latin typeface="Calibri"/>
                        </a:rPr>
                        <a:t>219,25%, ou 80,16% a mais de entrega que nunca existiu</a:t>
                      </a:r>
                    </a:p>
                  </a:txBody>
                  <a:tcPr marL="118872" marR="118872" marT="82296" marB="82296"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52514E"/>
                          </a:solidFill>
                          <a:latin typeface="Calibri"/>
                        </a:rPr>
                        <a:t>Somamos tudo antes de dividir, em vez de tirar média entre reservas</a:t>
                      </a:r>
                    </a:p>
                  </a:txBody>
                  <a:tcPr marL="118872" marR="118872" marT="82296" marB="8229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52514E"/>
                          </a:solidFill>
                          <a:latin typeface="Calibri"/>
                        </a:rPr>
                        <a:t>Cliques: 47,32%</a:t>
                      </a:r>
                    </a:p>
                  </a:txBody>
                  <a:tcPr marL="118872" marR="118872" marT="82296" marB="8229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52514E"/>
                          </a:solidFill>
                          <a:latin typeface="Calibri"/>
                        </a:rPr>
                        <a:t>146,23%, e a campanha pareceria ter superado a meta</a:t>
                      </a:r>
                    </a:p>
                  </a:txBody>
                  <a:tcPr marL="118872" marR="118872" marT="82296" marB="82296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800600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898781"/>
                </a:solidFill>
                <a:latin typeface="Calibri"/>
              </a:rPr>
              <a:t>As demais decisões, com o valor de cada alternativa, estão em analise/decisoes.md.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20624"/>
            <a:ext cx="10874959" cy="914400"/>
          </a:xfrm>
        </p:spPr>
        <p:txBody>
          <a:bodyPr wrap="square"/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0B0B0B"/>
                </a:solidFill>
                <a:latin typeface="Calibri"/>
              </a:rPr>
              <a:t>Próximos passos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371600" cy="26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7495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95000"/>
              </a:lnSpc>
            </a:pPr>
            <a:r>
              <a:rPr sz="1900" b="0">
                <a:solidFill>
                  <a:srgbClr val="52514E"/>
                </a:solidFill>
                <a:latin typeface="Calibri"/>
              </a:rPr>
              <a:t>1.  Definir qual métrica é a meta de cada flight.</a:t>
            </a:r>
          </a:p>
          <a:p>
            <a:pPr algn="l">
              <a:lnSpc>
                <a:spcPct val="195000"/>
              </a:lnSpc>
            </a:pPr>
            <a:r>
              <a:rPr sz="1900" b="0">
                <a:solidFill>
                  <a:srgbClr val="52514E"/>
                </a:solidFill>
                <a:latin typeface="Calibri"/>
              </a:rPr>
              <a:t>2.  Responder o caso do TikTok: R$ 24.797,50 reservados e nenhum dia no ar.</a:t>
            </a:r>
          </a:p>
          <a:p>
            <a:pPr algn="l">
              <a:lnSpc>
                <a:spcPct val="195000"/>
              </a:lnSpc>
            </a:pPr>
            <a:r>
              <a:rPr sz="1900" b="0">
                <a:solidFill>
                  <a:srgbClr val="52514E"/>
                </a:solidFill>
                <a:latin typeface="Calibri"/>
              </a:rPr>
              <a:t>3.  Reconciliar as datas do plano: R$ 2.712.664,12 entregues fora da janela.</a:t>
            </a:r>
          </a:p>
          <a:p>
            <a:pPr algn="l">
              <a:lnSpc>
                <a:spcPct val="195000"/>
              </a:lnSpc>
            </a:pPr>
            <a:r>
              <a:rPr sz="1900" b="0">
                <a:solidFill>
                  <a:srgbClr val="52514E"/>
                </a:solidFill>
                <a:latin typeface="Calibri"/>
              </a:rPr>
              <a:t>4.  Decidir o que fazer com as 166 campanhas sem plano.</a:t>
            </a:r>
          </a:p>
          <a:p>
            <a:pPr algn="l">
              <a:lnSpc>
                <a:spcPct val="195000"/>
              </a:lnSpc>
            </a:pPr>
            <a:r>
              <a:rPr sz="1900" b="0">
                <a:solidFill>
                  <a:srgbClr val="52514E"/>
                </a:solidFill>
                <a:latin typeface="Calibri"/>
              </a:rPr>
              <a:t>5.  Revisar a premissa de preço: o plano usou R$ 7,54 por mil e o mercado entregou a R$ 6,24.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20624"/>
            <a:ext cx="10874959" cy="914400"/>
          </a:xfrm>
        </p:spPr>
        <p:txBody>
          <a:bodyPr wrap="square"/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0B0B0B"/>
                </a:solidFill>
                <a:latin typeface="Calibri"/>
              </a:rPr>
              <a:t>Apêndice: como reproduzir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371600" cy="26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1087495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>
                <a:solidFill>
                  <a:srgbClr val="52514E"/>
                </a:solidFill>
                <a:latin typeface="Calibri"/>
              </a:rPr>
              <a:t>perfilar.py sobre o arquivo, depois os scripts numerados de analise/scripts/, na ordem.</a:t>
            </a:r>
          </a:p>
          <a:p>
            <a:pPr algn="l">
              <a:lnSpc>
                <a:spcPct val="160000"/>
              </a:lnSpc>
            </a:pP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52514E"/>
                </a:solidFill>
                <a:latin typeface="Calibri"/>
              </a:rPr>
              <a:t>Cada número deste deck está em analise/numeros.json com o script que o calculou.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52514E"/>
                </a:solidFill>
                <a:latin typeface="Calibri"/>
              </a:rPr>
              <a:t>As decisões e o resultado de cada alternativa estão em analise/decisoes.md.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52514E"/>
                </a:solidFill>
                <a:latin typeface="Calibri"/>
              </a:rPr>
              <a:t>O detalhe por bloco de plano está em analise/blocos_detalhe.csv e no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